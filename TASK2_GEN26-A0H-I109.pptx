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13" y="-3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020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txBody>
          <a:bodyPr/>
          <a:lstStyle/>
          <a:p>
            <a:endParaRPr lang="en-AE"/>
          </a:p>
        </p:txBody>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txBody>
          <a:bodyPr/>
          <a:lstStyle/>
          <a:p>
            <a:endParaRPr lang="en-AE"/>
          </a:p>
        </p:txBody>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txBody>
          <a:bodyPr/>
          <a:lstStyle/>
          <a:p>
            <a:endParaRPr lang="en-AE"/>
          </a:p>
        </p:txBody>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txBody>
          <a:bodyPr/>
          <a:lstStyle/>
          <a:p>
            <a:endParaRPr lang="en-AE"/>
          </a:p>
        </p:txBody>
      </p:sp>
      <p:sp>
        <p:nvSpPr>
          <p:cNvPr id="5" name="Cover Hexagon"/>
          <p:cNvSpPr/>
          <p:nvPr/>
        </p:nvSpPr>
        <p:spPr>
          <a:xfrm rot="5400000">
            <a:off x="6613359" y="3177540"/>
            <a:ext cx="580722" cy="502920"/>
          </a:xfrm>
          <a:prstGeom prst="hexagon">
            <a:avLst/>
          </a:prstGeom>
          <a:solidFill>
            <a:schemeClr val="accent3"/>
          </a:solidFill>
          <a:ln/>
        </p:spPr>
        <p:txBody>
          <a:bodyPr/>
          <a:lstStyle/>
          <a:p>
            <a:endParaRPr lang="en-AE"/>
          </a:p>
        </p:txBody>
      </p:sp>
      <p:sp>
        <p:nvSpPr>
          <p:cNvPr id="6" name="Cover Hexagon"/>
          <p:cNvSpPr/>
          <p:nvPr/>
        </p:nvSpPr>
        <p:spPr>
          <a:xfrm rot="5400000">
            <a:off x="10849583" y="1728216"/>
            <a:ext cx="337874" cy="292608"/>
          </a:xfrm>
          <a:prstGeom prst="hexagon">
            <a:avLst/>
          </a:prstGeom>
          <a:solidFill>
            <a:schemeClr val="accent3">
              <a:alpha val="70000"/>
            </a:schemeClr>
          </a:solidFill>
          <a:ln/>
        </p:spPr>
        <p:txBody>
          <a:bodyPr/>
          <a:lstStyle/>
          <a:p>
            <a:endParaRPr lang="en-AE"/>
          </a:p>
        </p:txBody>
      </p:sp>
      <p:sp>
        <p:nvSpPr>
          <p:cNvPr id="7" name="Cover Hexagon"/>
          <p:cNvSpPr/>
          <p:nvPr/>
        </p:nvSpPr>
        <p:spPr>
          <a:xfrm rot="5400000">
            <a:off x="6868728" y="1440180"/>
            <a:ext cx="4276224" cy="3703320"/>
          </a:xfrm>
          <a:prstGeom prst="hexagon">
            <a:avLst/>
          </a:prstGeom>
          <a:solidFill>
            <a:schemeClr val="accent1">
              <a:alpha val="45000"/>
            </a:schemeClr>
          </a:solidFill>
          <a:ln/>
        </p:spPr>
        <p:txBody>
          <a:bodyPr/>
          <a:lstStyle/>
          <a:p>
            <a:endParaRPr lang="en-AE"/>
          </a:p>
        </p:txBody>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txBody>
          <a:bodyPr/>
          <a:lstStyle/>
          <a:p>
            <a:endParaRPr lang="en-AE"/>
          </a:p>
        </p:txBody>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txBody>
          <a:bodyPr/>
          <a:lstStyle/>
          <a:p>
            <a:endParaRPr lang="en-AE"/>
          </a:p>
        </p:txBody>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644671" y="342900"/>
            <a:ext cx="5303520" cy="320040"/>
          </a:xfrm>
          <a:prstGeom prst="rect">
            <a:avLst/>
          </a:prstGeom>
          <a:noFill/>
          <a:ln/>
        </p:spPr>
        <p:txBody>
          <a:bodyPr wrap="square" lIns="0" tIns="0" rIns="0" bIns="0" rtlCol="0" anchor="ctr"/>
          <a:lstStyle/>
          <a:p>
            <a:pPr marL="0" indent="0">
              <a:buNone/>
            </a:pPr>
            <a:endParaRPr lang="en-US" sz="1200" dirty="0"/>
          </a:p>
        </p:txBody>
      </p:sp>
      <p:sp>
        <p:nvSpPr>
          <p:cNvPr id="12" name="Event Title"/>
          <p:cNvSpPr txBox="1"/>
          <p:nvPr/>
        </p:nvSpPr>
        <p:spPr>
          <a:xfrm>
            <a:off x="521208" y="302741"/>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1987996"/>
            <a:ext cx="2103120" cy="365760"/>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endParaRPr lang="en-US" sz="1600" dirty="0"/>
          </a:p>
        </p:txBody>
      </p:sp>
      <p:sp>
        <p:nvSpPr>
          <p:cNvPr id="15" name="Cover Fields"/>
          <p:cNvSpPr txBox="1"/>
          <p:nvPr/>
        </p:nvSpPr>
        <p:spPr>
          <a:xfrm>
            <a:off x="521208" y="2731510"/>
            <a:ext cx="6035040" cy="3695502"/>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dirty="0" err="1">
                <a:solidFill>
                  <a:schemeClr val="bg1"/>
                </a:solidFill>
              </a:rPr>
              <a:t>Nexora</a:t>
            </a:r>
            <a:endParaRPr lang="en-US" dirty="0"/>
          </a:p>
          <a:p>
            <a:pPr marL="279400" indent="-279400">
              <a:spcAft>
                <a:spcPts val="1400"/>
              </a:spcAft>
              <a:buClr>
                <a:schemeClr val="accent3"/>
              </a:buClr>
              <a:buSzPct val="100000"/>
              <a:buChar char="•"/>
            </a:pPr>
            <a:r>
              <a:rPr lang="en-US" dirty="0">
                <a:solidFill>
                  <a:schemeClr val="bg1"/>
                </a:solidFill>
              </a:rPr>
              <a:t>Team Members – </a:t>
            </a:r>
          </a:p>
          <a:p>
            <a:pPr marL="279400" indent="-279400">
              <a:spcAft>
                <a:spcPts val="1400"/>
              </a:spcAft>
              <a:buClr>
                <a:schemeClr val="accent3"/>
              </a:buClr>
              <a:buSzPct val="100000"/>
              <a:buChar char="•"/>
            </a:pPr>
            <a:r>
              <a:rPr lang="en-US" dirty="0" err="1">
                <a:solidFill>
                  <a:schemeClr val="bg1"/>
                </a:solidFill>
              </a:rPr>
              <a:t>Nidarshanaa</a:t>
            </a:r>
            <a:r>
              <a:rPr lang="en-US" dirty="0">
                <a:solidFill>
                  <a:schemeClr val="bg1"/>
                </a:solidFill>
              </a:rPr>
              <a:t> S (CB.SC.U4CYS26132), </a:t>
            </a:r>
          </a:p>
          <a:p>
            <a:pPr marL="279400" indent="-279400">
              <a:spcAft>
                <a:spcPts val="1400"/>
              </a:spcAft>
              <a:buClr>
                <a:schemeClr val="accent3"/>
              </a:buClr>
              <a:buSzPct val="100000"/>
              <a:buChar char="•"/>
            </a:pPr>
            <a:r>
              <a:rPr lang="en-US" dirty="0">
                <a:solidFill>
                  <a:schemeClr val="bg1"/>
                </a:solidFill>
              </a:rPr>
              <a:t>Rakshitha S (CB.SC.U4CYS26140),</a:t>
            </a:r>
          </a:p>
          <a:p>
            <a:pPr marL="279400" indent="-279400">
              <a:spcAft>
                <a:spcPts val="1400"/>
              </a:spcAft>
              <a:buClr>
                <a:schemeClr val="accent3"/>
              </a:buClr>
              <a:buSzPct val="100000"/>
              <a:buChar char="•"/>
            </a:pPr>
            <a:r>
              <a:rPr lang="en-US" dirty="0">
                <a:solidFill>
                  <a:schemeClr val="bg1"/>
                </a:solidFill>
              </a:rPr>
              <a:t>Rakesh Raam J (CB.SC.U4CYS26044),</a:t>
            </a:r>
          </a:p>
          <a:p>
            <a:pPr marL="279400" indent="-279400">
              <a:spcAft>
                <a:spcPts val="1400"/>
              </a:spcAft>
              <a:buClr>
                <a:schemeClr val="accent3"/>
              </a:buClr>
              <a:buSzPct val="100000"/>
              <a:buChar char="•"/>
            </a:pPr>
            <a:r>
              <a:rPr lang="en-US" dirty="0">
                <a:solidFill>
                  <a:schemeClr val="bg1"/>
                </a:solidFill>
              </a:rPr>
              <a:t>Neha Rajesh (CB.SC.U4CYS26130)</a:t>
            </a:r>
            <a:endParaRPr lang="en-US" dirty="0"/>
          </a:p>
          <a:p>
            <a:pPr marL="279400" indent="-279400">
              <a:spcAft>
                <a:spcPts val="1400"/>
              </a:spcAft>
              <a:buClr>
                <a:schemeClr val="accent3"/>
              </a:buClr>
              <a:buSzPct val="100000"/>
              <a:buChar char="•"/>
            </a:pPr>
            <a:r>
              <a:rPr lang="en-US" dirty="0">
                <a:solidFill>
                  <a:schemeClr val="bg1"/>
                </a:solidFill>
              </a:rPr>
              <a:t>Selected Domain – # 7</a:t>
            </a:r>
            <a:endParaRPr lang="en-US" dirty="0"/>
          </a:p>
          <a:p>
            <a:pPr marL="279400" indent="-279400">
              <a:spcAft>
                <a:spcPts val="1400"/>
              </a:spcAft>
              <a:buClr>
                <a:schemeClr val="accent3"/>
              </a:buClr>
              <a:buSzPct val="100000"/>
              <a:buChar char="•"/>
            </a:pPr>
            <a:r>
              <a:rPr lang="en-US" dirty="0">
                <a:solidFill>
                  <a:schemeClr val="bg1"/>
                </a:solidFill>
              </a:rPr>
              <a:t>Problem Statement – AI-Based Fake Website Detection</a:t>
            </a:r>
            <a:endParaRPr lang="en-US" dirty="0"/>
          </a:p>
          <a:p>
            <a:pPr marL="279400" indent="-279400">
              <a:spcAft>
                <a:spcPts val="1400"/>
              </a:spcAft>
              <a:buClr>
                <a:schemeClr val="accent3"/>
              </a:buClr>
              <a:buSzPct val="100000"/>
              <a:buChar char="•"/>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6475396"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914400" y="128016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a:spcAft>
                <a:spcPts val="1000"/>
              </a:spcAft>
              <a:buClr>
                <a:schemeClr val="accent1"/>
              </a:buClr>
              <a:buSzPct val="100000"/>
            </a:pPr>
            <a:r>
              <a:rPr lang="en-US" dirty="0">
                <a:latin typeface="Times New Roman" panose="02020603050405020304" pitchFamily="18" charset="0"/>
                <a:cs typeface="Times New Roman" panose="02020603050405020304" pitchFamily="18" charset="0"/>
              </a:rPr>
              <a:t>Nowadays, fake websites are becoming harder to identify because they look almost identical to genuine ones, leading people to unknowingly enter their personal details—like passwords—on them. This risk is growing with the increased use of online services such as banks, shopping platforms, and educational portals for registering on unknown sites . No websites are trustworthy , even they have padlock for fake domains .</a:t>
            </a:r>
          </a:p>
          <a:p>
            <a:pPr>
              <a:spcAft>
                <a:spcPts val="1000"/>
              </a:spcAft>
              <a:buClr>
                <a:schemeClr val="accent1"/>
              </a:buClr>
              <a:buSzPct val="100000"/>
            </a:pPr>
            <a:r>
              <a:rPr lang="en-US" sz="1600" dirty="0"/>
              <a:t>       </a:t>
            </a:r>
          </a:p>
          <a:p>
            <a:pPr>
              <a:spcAft>
                <a:spcPts val="1000"/>
              </a:spcAft>
              <a:buClr>
                <a:schemeClr val="accent1"/>
              </a:buClr>
              <a:buSzPct val="100000"/>
            </a:pPr>
            <a:r>
              <a:rPr lang="en-US" dirty="0"/>
              <a:t>              </a:t>
            </a:r>
            <a:r>
              <a:rPr lang="en-US" dirty="0">
                <a:latin typeface="Times New Roman" panose="02020603050405020304" pitchFamily="18" charset="0"/>
                <a:cs typeface="Times New Roman" panose="02020603050405020304" pitchFamily="18" charset="0"/>
              </a:rPr>
              <a:t>Every day, people click on various links that redirect them to malicious websites, allowing attackers to steal sensitive information. That’s why protection must happen before the click. Our solution is to build software that analyzes URL domains in real time and provides a clear risk score before users enter.</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78879" y="1344135"/>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70319" y="1419684"/>
            <a:ext cx="274320" cy="274320"/>
          </a:xfrm>
          <a:prstGeom prst="rect">
            <a:avLst/>
          </a:prstGeom>
        </p:spPr>
      </p:pic>
      <p:sp>
        <p:nvSpPr>
          <p:cNvPr id="9" name="Lead Text"/>
          <p:cNvSpPr txBox="1"/>
          <p:nvPr/>
        </p:nvSpPr>
        <p:spPr>
          <a:xfrm>
            <a:off x="1170432" y="127193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1036079" y="1920239"/>
            <a:ext cx="10424160" cy="4389121"/>
          </a:xfrm>
          <a:prstGeom prst="rect">
            <a:avLst/>
          </a:prstGeom>
          <a:noFill/>
          <a:ln/>
        </p:spPr>
        <p:txBody>
          <a:bodyPr wrap="square" lIns="0" tIns="0" rIns="0" bIns="0" rtlCol="0" anchor="t"/>
          <a:lstStyle/>
          <a:p>
            <a:pPr marL="285750" indent="-285750">
              <a:lnSpc>
                <a:spcPct val="150000"/>
              </a:lnSpc>
              <a:spcAft>
                <a:spcPts val="1000"/>
              </a:spcAft>
              <a:buClr>
                <a:schemeClr val="accent1"/>
              </a:buClr>
              <a:buSzPct val="100000"/>
              <a:buFont typeface="Wingdings" panose="05000000000000000000" pitchFamily="2" charset="2"/>
              <a:buChar char="Ø"/>
            </a:pPr>
            <a:r>
              <a:rPr lang="en-US" b="1" dirty="0"/>
              <a:t>Target users </a:t>
            </a:r>
            <a:r>
              <a:rPr lang="en-US" dirty="0"/>
              <a:t>:</a:t>
            </a:r>
          </a:p>
          <a:p>
            <a:pPr>
              <a:lnSpc>
                <a:spcPct val="150000"/>
              </a:lnSpc>
              <a:spcAft>
                <a:spcPts val="1000"/>
              </a:spcAft>
              <a:buClr>
                <a:schemeClr val="accent1"/>
              </a:buClr>
              <a:buSzPct val="100000"/>
            </a:pPr>
            <a:r>
              <a:rPr lang="en-US" dirty="0"/>
              <a:t>             Students using websites for studies, for making payments , general web users visiting websites every day , making purchases from e-commerce websites, using websites for making online transactions.</a:t>
            </a:r>
          </a:p>
          <a:p>
            <a:pPr marL="285750" indent="-285750">
              <a:lnSpc>
                <a:spcPct val="150000"/>
              </a:lnSpc>
              <a:spcAft>
                <a:spcPts val="1000"/>
              </a:spcAft>
              <a:buClr>
                <a:schemeClr val="accent1"/>
              </a:buClr>
              <a:buSzPct val="100000"/>
              <a:buFont typeface="Wingdings" panose="05000000000000000000" pitchFamily="2" charset="2"/>
              <a:buChar char="Ø"/>
            </a:pPr>
            <a:r>
              <a:rPr lang="en-US" b="1" dirty="0"/>
              <a:t>Stakeholders </a:t>
            </a:r>
            <a:r>
              <a:rPr lang="en-US" dirty="0"/>
              <a:t>:</a:t>
            </a:r>
          </a:p>
          <a:p>
            <a:pPr>
              <a:lnSpc>
                <a:spcPct val="150000"/>
              </a:lnSpc>
              <a:spcAft>
                <a:spcPts val="1000"/>
              </a:spcAft>
              <a:buClr>
                <a:schemeClr val="accent1"/>
              </a:buClr>
              <a:buSzPct val="100000"/>
            </a:pPr>
            <a:r>
              <a:rPr lang="en-US" dirty="0"/>
              <a:t>             Financial institutions and banks , E-commerce businesses , Educational organizations , Cybersecurity experts , Cybercrime agencies and departments.</a:t>
            </a:r>
          </a:p>
          <a:p>
            <a:pPr marL="285750" indent="-285750">
              <a:lnSpc>
                <a:spcPct val="150000"/>
              </a:lnSpc>
              <a:spcAft>
                <a:spcPts val="1000"/>
              </a:spcAft>
              <a:buClr>
                <a:schemeClr val="accent1"/>
              </a:buClr>
              <a:buSzPct val="100000"/>
              <a:buFont typeface="Wingdings" panose="05000000000000000000" pitchFamily="2" charset="2"/>
              <a:buChar char="Ø"/>
            </a:pPr>
            <a:r>
              <a:rPr lang="en-US" b="1" dirty="0"/>
              <a:t>Beneficiaries</a:t>
            </a:r>
            <a:r>
              <a:rPr lang="en-US" dirty="0"/>
              <a:t> : </a:t>
            </a:r>
          </a:p>
          <a:p>
            <a:pPr lvl="1">
              <a:spcAft>
                <a:spcPts val="1000"/>
              </a:spcAft>
              <a:buClr>
                <a:schemeClr val="accent1"/>
              </a:buClr>
              <a:buSzPct val="100000"/>
            </a:pPr>
            <a:r>
              <a:rPr lang="en-US" dirty="0"/>
              <a:t>              Internet users , Students , Online shoppers  , Cybersecurity teams , Government and</a:t>
            </a:r>
          </a:p>
          <a:p>
            <a:pPr lvl="1">
              <a:spcAft>
                <a:spcPts val="1000"/>
              </a:spcAft>
              <a:buClr>
                <a:schemeClr val="accent1"/>
              </a:buClr>
              <a:buSzPct val="100000"/>
            </a:pPr>
            <a:r>
              <a:rPr lang="en-US" dirty="0"/>
              <a:t> cybercrime departments.</a:t>
            </a:r>
          </a:p>
          <a:p>
            <a:pPr lvl="1">
              <a:spcAft>
                <a:spcPts val="1000"/>
              </a:spcAft>
              <a:buClr>
                <a:schemeClr val="accent1"/>
              </a:buClr>
              <a:buSzPct val="100000"/>
            </a:pPr>
            <a:r>
              <a:rPr lang="en-US" dirty="0"/>
              <a:t>               </a:t>
            </a:r>
          </a:p>
          <a:p>
            <a:pPr>
              <a:lnSpc>
                <a:spcPct val="150000"/>
              </a:lnSpc>
              <a:spcAft>
                <a:spcPts val="1000"/>
              </a:spcAft>
              <a:buClr>
                <a:schemeClr val="accent1"/>
              </a:buClr>
              <a:buSzPct val="100000"/>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548641" y="2148839"/>
            <a:ext cx="10993326" cy="4160521"/>
          </a:xfrm>
          <a:prstGeom prst="rect">
            <a:avLst/>
          </a:prstGeom>
          <a:noFill/>
          <a:ln/>
        </p:spPr>
        <p:txBody>
          <a:bodyPr wrap="square" lIns="0" tIns="0" rIns="0" bIns="0" rtlCol="0" anchor="t"/>
          <a:lstStyle/>
          <a:p>
            <a:pPr marL="742950" lvl="1" indent="-285750">
              <a:lnSpc>
                <a:spcPct val="150000"/>
              </a:lnSpc>
              <a:spcAft>
                <a:spcPts val="1000"/>
              </a:spcAft>
              <a:buClr>
                <a:schemeClr val="accent1"/>
              </a:buClr>
              <a:buSzPct val="100000"/>
              <a:buFont typeface="Wingdings" panose="05000000000000000000" pitchFamily="2" charset="2"/>
              <a:buChar char="Ø"/>
            </a:pPr>
            <a:r>
              <a:rPr lang="en-AE" dirty="0"/>
              <a:t>  </a:t>
            </a:r>
            <a:r>
              <a:rPr lang="en-AE" b="1" dirty="0"/>
              <a:t>Existing Scenario and Background </a:t>
            </a:r>
            <a:r>
              <a:rPr lang="en-AE" dirty="0"/>
              <a:t>: </a:t>
            </a:r>
            <a:r>
              <a:rPr lang="en-GB" dirty="0"/>
              <a:t>Fake websites steal personal and banking information  , Fake websites often look like genuine ones , Traditional methods may miss new online threats ,AI can detect suspicious URL pattern.</a:t>
            </a:r>
          </a:p>
          <a:p>
            <a:pPr marL="742950" lvl="1" indent="-285750">
              <a:spcAft>
                <a:spcPts val="1000"/>
              </a:spcAft>
              <a:buClr>
                <a:schemeClr val="accent1"/>
              </a:buClr>
              <a:buSzPct val="100000"/>
              <a:buFont typeface="Wingdings" panose="05000000000000000000" pitchFamily="2" charset="2"/>
              <a:buChar char="Ø"/>
            </a:pPr>
            <a:r>
              <a:rPr lang="en-US" dirty="0"/>
              <a:t>  </a:t>
            </a:r>
            <a:r>
              <a:rPr lang="en-AE" b="1" dirty="0"/>
              <a:t>Relevant Data or Facts </a:t>
            </a:r>
            <a:r>
              <a:rPr lang="en-AE" dirty="0"/>
              <a:t>: Phishing websites often imitate trusted brands and online services.</a:t>
            </a:r>
          </a:p>
          <a:p>
            <a:pPr lvl="0"/>
            <a:r>
              <a:rPr lang="en-AE" dirty="0"/>
              <a:t>                Suspicious URLs may contain misspelled domain names, unusual characters, or misleading subdomains.</a:t>
            </a:r>
          </a:p>
          <a:p>
            <a:pPr lvl="0">
              <a:lnSpc>
                <a:spcPct val="150000"/>
              </a:lnSpc>
            </a:pPr>
            <a:r>
              <a:rPr lang="en-AE" dirty="0"/>
              <a:t>                Website URL features, domain information, and other available indicators can help identify potential threats.          </a:t>
            </a:r>
          </a:p>
          <a:p>
            <a:pPr lvl="0">
              <a:lnSpc>
                <a:spcPct val="150000"/>
              </a:lnSpc>
            </a:pPr>
            <a:r>
              <a:rPr lang="en-AE" dirty="0"/>
              <a:t>                Machine learning can </a:t>
            </a:r>
            <a:r>
              <a:rPr lang="en-AE" dirty="0" err="1"/>
              <a:t>analyze</a:t>
            </a:r>
            <a:r>
              <a:rPr lang="en-AE" dirty="0"/>
              <a:t> these features to classify websites as likely safe, suspicious, or high risk.</a:t>
            </a:r>
          </a:p>
          <a:p>
            <a:pPr lvl="1"/>
            <a:endParaRPr lang="en-AE" dirty="0"/>
          </a:p>
          <a:p>
            <a:pPr marL="742950" lvl="1" indent="-285750">
              <a:buFont typeface="Wingdings" panose="05000000000000000000" pitchFamily="2" charset="2"/>
              <a:buChar char="Ø"/>
            </a:pPr>
            <a:r>
              <a:rPr lang="en-US" dirty="0">
                <a:solidFill>
                  <a:schemeClr val="tx1"/>
                </a:solidFill>
              </a:rPr>
              <a:t>   </a:t>
            </a:r>
            <a:r>
              <a:rPr lang="en-US" b="1" dirty="0">
                <a:solidFill>
                  <a:schemeClr val="tx1"/>
                </a:solidFill>
              </a:rPr>
              <a:t>Current workflow </a:t>
            </a:r>
            <a:r>
              <a:rPr lang="en-US" dirty="0">
                <a:solidFill>
                  <a:schemeClr val="tx1"/>
                </a:solidFill>
              </a:rPr>
              <a:t>: </a:t>
            </a:r>
            <a:r>
              <a:rPr lang="en-AE" dirty="0"/>
              <a:t>User receives a URL , User opens the link , Website inspection , Risk </a:t>
            </a:r>
            <a:r>
              <a:rPr lang="en-AE" dirty="0" err="1"/>
              <a:t>Identificatio</a:t>
            </a:r>
            <a:r>
              <a:rPr lang="en-GB" dirty="0"/>
              <a:t>n </a:t>
            </a:r>
            <a:r>
              <a:rPr lang="en-AE" dirty="0"/>
              <a:t>, Potential consequences.</a:t>
            </a:r>
          </a:p>
          <a:p>
            <a:pPr marL="285750" indent="-285750">
              <a:spcAft>
                <a:spcPts val="1000"/>
              </a:spcAft>
              <a:buClr>
                <a:schemeClr val="accent1"/>
              </a:buClr>
              <a:buSzPct val="100000"/>
              <a:buFont typeface="Wingdings" panose="05000000000000000000" pitchFamily="2" charset="2"/>
              <a:buChar char="Ø"/>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4009364"/>
          </a:xfrm>
          <a:prstGeom prst="rect">
            <a:avLst/>
          </a:prstGeom>
          <a:noFill/>
          <a:ln/>
        </p:spPr>
        <p:txBody>
          <a:bodyPr wrap="square" lIns="0" tIns="0" rIns="0" bIns="0" rtlCol="0" anchor="t"/>
          <a:lstStyle/>
          <a:p>
            <a:pPr marL="285750" lvl="0" indent="-285750">
              <a:buFont typeface="Wingdings" panose="05000000000000000000" pitchFamily="2" charset="2"/>
              <a:buChar char="Ø"/>
            </a:pPr>
            <a:r>
              <a:rPr lang="en-US" sz="1800" dirty="0">
                <a:solidFill>
                  <a:schemeClr val="tx1"/>
                </a:solidFill>
              </a:rPr>
              <a:t>Main difficulties : </a:t>
            </a:r>
          </a:p>
          <a:p>
            <a:pPr lvl="0"/>
            <a:r>
              <a:rPr lang="en-AE" b="1" dirty="0"/>
              <a:t>Digital Deception:</a:t>
            </a:r>
            <a:r>
              <a:rPr lang="en-AE" dirty="0"/>
              <a:t> AI sees what humans miss - clones of trusted platforms with pixel-perfect mimicry</a:t>
            </a:r>
          </a:p>
          <a:p>
            <a:pPr lvl="0"/>
            <a:r>
              <a:rPr lang="en-AE" b="1" dirty="0"/>
              <a:t>Hidden Threats:</a:t>
            </a:r>
            <a:r>
              <a:rPr lang="en-AE" dirty="0"/>
              <a:t> Zero-day malicious URLs that bypass blacklists </a:t>
            </a:r>
          </a:p>
          <a:p>
            <a:pPr lvl="0"/>
            <a:endParaRPr lang="en-US" sz="1800" dirty="0"/>
          </a:p>
          <a:p>
            <a:pPr marL="285750" indent="-285750">
              <a:spcAft>
                <a:spcPts val="1000"/>
              </a:spcAft>
              <a:buClr>
                <a:schemeClr val="accent1"/>
              </a:buClr>
              <a:buSzPct val="100000"/>
              <a:buFont typeface="Wingdings" panose="05000000000000000000" pitchFamily="2" charset="2"/>
              <a:buChar char="Ø"/>
            </a:pPr>
            <a:r>
              <a:rPr lang="en-US" sz="1800" dirty="0">
                <a:solidFill>
                  <a:schemeClr val="tx1"/>
                </a:solidFill>
              </a:rPr>
              <a:t>Root causes </a:t>
            </a:r>
            <a:r>
              <a:rPr lang="en-US" dirty="0"/>
              <a:t>: Fraudsters disguise fake websites , Scam techniques change rapidly , Limited data and outdated methods.</a:t>
            </a:r>
          </a:p>
          <a:p>
            <a:pPr marL="285750" indent="-285750">
              <a:spcAft>
                <a:spcPts val="1000"/>
              </a:spcAft>
              <a:buClr>
                <a:schemeClr val="accent1"/>
              </a:buClr>
              <a:buSzPct val="100000"/>
              <a:buFont typeface="Wingdings" panose="05000000000000000000" pitchFamily="2" charset="2"/>
              <a:buChar char="Ø"/>
            </a:pPr>
            <a:r>
              <a:rPr lang="en-US" sz="1800" dirty="0">
                <a:solidFill>
                  <a:schemeClr val="tx1"/>
                </a:solidFill>
              </a:rPr>
              <a:t>Consequences </a:t>
            </a:r>
            <a:r>
              <a:rPr lang="en-US" dirty="0"/>
              <a:t>: </a:t>
            </a:r>
          </a:p>
          <a:p>
            <a:pPr>
              <a:spcAft>
                <a:spcPts val="1000"/>
              </a:spcAft>
              <a:buClr>
                <a:schemeClr val="accent1"/>
              </a:buClr>
              <a:buSzPct val="100000"/>
            </a:pPr>
            <a:r>
              <a:rPr lang="en-GB" b="1" dirty="0"/>
              <a:t>Threat to Data</a:t>
            </a:r>
            <a:r>
              <a:rPr lang="en-GB" dirty="0"/>
              <a:t>: Personal data is compromised.</a:t>
            </a:r>
          </a:p>
          <a:p>
            <a:pPr>
              <a:spcAft>
                <a:spcPts val="1000"/>
              </a:spcAft>
              <a:buClr>
                <a:schemeClr val="accent1"/>
              </a:buClr>
              <a:buSzPct val="100000"/>
            </a:pPr>
            <a:r>
              <a:rPr lang="en-GB" b="1" dirty="0"/>
              <a:t>Financial Losses</a:t>
            </a:r>
            <a:r>
              <a:rPr lang="en-GB" dirty="0"/>
              <a:t>: Financial losses for victims.</a:t>
            </a:r>
          </a:p>
          <a:p>
            <a:pPr>
              <a:spcAft>
                <a:spcPts val="1000"/>
              </a:spcAft>
              <a:buClr>
                <a:schemeClr val="accent1"/>
              </a:buClr>
              <a:buSzPct val="100000"/>
            </a:pPr>
            <a:r>
              <a:rPr lang="en-GB" b="1" dirty="0"/>
              <a:t>Erosion of Trust</a:t>
            </a:r>
            <a:r>
              <a:rPr lang="en-GB" dirty="0"/>
              <a:t>: Internet safety decreases.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35024" y="448056"/>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4160520"/>
          </a:xfrm>
          <a:prstGeom prst="rect">
            <a:avLst/>
          </a:prstGeom>
          <a:noFill/>
          <a:ln/>
        </p:spPr>
        <p:txBody>
          <a:bodyPr wrap="square" lIns="0" tIns="0" rIns="0" bIns="0" rtlCol="0" anchor="t"/>
          <a:lstStyle/>
          <a:p>
            <a:pPr marL="285750" indent="-285750">
              <a:spcAft>
                <a:spcPts val="1000"/>
              </a:spcAft>
              <a:buClr>
                <a:schemeClr val="accent1"/>
              </a:buClr>
              <a:buSzPct val="100000"/>
              <a:buFont typeface="Wingdings" panose="05000000000000000000" pitchFamily="2" charset="2"/>
              <a:buChar char="Ø"/>
            </a:pPr>
            <a:r>
              <a:rPr lang="en-US" dirty="0"/>
              <a:t>The methods used today to detect phishing websites tend to fail at detecting new phishing websites, URLs that have been modified, and fake sites. This is because existing techniques rely mostly on databases of threats or analyze only selected characteristics of the website.</a:t>
            </a:r>
          </a:p>
          <a:p>
            <a:pPr>
              <a:spcAft>
                <a:spcPts val="1000"/>
              </a:spcAft>
              <a:buClr>
                <a:schemeClr val="accent1"/>
              </a:buClr>
              <a:buSzPct val="100000"/>
            </a:pPr>
            <a:endParaRPr lang="en-US" dirty="0"/>
          </a:p>
          <a:p>
            <a:pPr marL="285750" indent="-285750">
              <a:spcAft>
                <a:spcPts val="1000"/>
              </a:spcAft>
              <a:buClr>
                <a:schemeClr val="accent1"/>
              </a:buClr>
              <a:buSzPct val="100000"/>
              <a:buFont typeface="Wingdings" panose="05000000000000000000" pitchFamily="2" charset="2"/>
              <a:buChar char="Ø"/>
            </a:pPr>
            <a:r>
              <a:rPr lang="en-US" dirty="0"/>
              <a:t> To solve these problems, our AI-powered fake website detection system uses machine learning algorithms, analysis of URLs and domains, as well as checks on threat intelligence to detect fake websites. </a:t>
            </a:r>
          </a:p>
          <a:p>
            <a:pPr>
              <a:spcAft>
                <a:spcPts val="1000"/>
              </a:spcAft>
              <a:buClr>
                <a:schemeClr val="accent1"/>
              </a:buClr>
              <a:buSzPct val="100000"/>
            </a:pPr>
            <a:endParaRPr lang="en-US" dirty="0"/>
          </a:p>
          <a:p>
            <a:pPr marL="285750" indent="-285750">
              <a:spcAft>
                <a:spcPts val="1000"/>
              </a:spcAft>
              <a:buClr>
                <a:schemeClr val="accent1"/>
              </a:buClr>
              <a:buSzPct val="100000"/>
              <a:buFont typeface="Wingdings" panose="05000000000000000000" pitchFamily="2" charset="2"/>
              <a:buChar char="Ø"/>
            </a:pPr>
            <a:r>
              <a:rPr lang="en-US" dirty="0"/>
              <a:t>The system also explains the reason behind its decisions to enable users to detect suspicious signs while browsing online. The system will be tested on accuracy, false positives, detection of new threats, and time required to complete the process.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83920" y="2148840"/>
            <a:ext cx="10424160" cy="4160520"/>
          </a:xfrm>
          <a:prstGeom prst="rect">
            <a:avLst/>
          </a:prstGeom>
          <a:noFill/>
          <a:ln/>
        </p:spPr>
        <p:txBody>
          <a:bodyPr wrap="square" lIns="0" tIns="0" rIns="0" bIns="0" rtlCol="0" anchor="t"/>
          <a:lstStyle/>
          <a:p>
            <a:pPr marL="285750" indent="-285750">
              <a:spcAft>
                <a:spcPts val="1000"/>
              </a:spcAft>
              <a:buClr>
                <a:schemeClr val="accent1"/>
              </a:buClr>
              <a:buSzPct val="100000"/>
              <a:buFont typeface="Wingdings" panose="05000000000000000000" pitchFamily="2" charset="2"/>
              <a:buChar char="Ø"/>
            </a:pPr>
            <a:r>
              <a:rPr lang="en-US" b="1" dirty="0"/>
              <a:t>Hardware</a:t>
            </a:r>
            <a:r>
              <a:rPr lang="en-US" dirty="0"/>
              <a:t> :</a:t>
            </a:r>
          </a:p>
          <a:p>
            <a:pPr>
              <a:spcAft>
                <a:spcPts val="1000"/>
              </a:spcAft>
              <a:buClr>
                <a:schemeClr val="accent1"/>
              </a:buClr>
              <a:buSzPct val="100000"/>
            </a:pPr>
            <a:r>
              <a:rPr lang="en-US" dirty="0"/>
              <a:t>                  Laptop or computer , Stable internet connection</a:t>
            </a:r>
          </a:p>
          <a:p>
            <a:pPr>
              <a:spcAft>
                <a:spcPts val="1000"/>
              </a:spcAft>
              <a:buClr>
                <a:schemeClr val="accent1"/>
              </a:buClr>
              <a:buSzPct val="100000"/>
            </a:pPr>
            <a:endParaRPr lang="en-US" sz="1800" dirty="0"/>
          </a:p>
          <a:p>
            <a:pPr marL="285750" indent="-285750">
              <a:spcAft>
                <a:spcPts val="1000"/>
              </a:spcAft>
              <a:buClr>
                <a:schemeClr val="accent1"/>
              </a:buClr>
              <a:buSzPct val="100000"/>
              <a:buFont typeface="Wingdings" panose="05000000000000000000" pitchFamily="2" charset="2"/>
              <a:buChar char="Ø"/>
            </a:pPr>
            <a:r>
              <a:rPr lang="en-US" b="1" dirty="0"/>
              <a:t>Software </a:t>
            </a:r>
            <a:r>
              <a:rPr lang="en-US" dirty="0"/>
              <a:t>:</a:t>
            </a:r>
          </a:p>
          <a:p>
            <a:pPr>
              <a:spcAft>
                <a:spcPts val="1000"/>
              </a:spcAft>
              <a:buClr>
                <a:schemeClr val="accent1"/>
              </a:buClr>
              <a:buSzPct val="100000"/>
            </a:pPr>
            <a:r>
              <a:rPr lang="en-US" dirty="0"/>
              <a:t>                   Python – Core programming</a:t>
            </a:r>
          </a:p>
          <a:p>
            <a:pPr>
              <a:spcAft>
                <a:spcPts val="1000"/>
              </a:spcAft>
              <a:buClr>
                <a:schemeClr val="accent1"/>
              </a:buClr>
              <a:buSzPct val="100000"/>
            </a:pPr>
            <a:r>
              <a:rPr lang="en-US" dirty="0"/>
              <a:t>                   Scikit-learn &amp; Pandas – ML model and data analysis</a:t>
            </a:r>
          </a:p>
          <a:p>
            <a:pPr>
              <a:spcAft>
                <a:spcPts val="1000"/>
              </a:spcAft>
              <a:buClr>
                <a:schemeClr val="accent1"/>
              </a:buClr>
              <a:buSzPct val="100000"/>
            </a:pPr>
            <a:r>
              <a:rPr lang="en-US" dirty="0"/>
              <a:t>                   Flask – Web application development</a:t>
            </a:r>
          </a:p>
          <a:p>
            <a:pPr>
              <a:spcAft>
                <a:spcPts val="1000"/>
              </a:spcAft>
              <a:buClr>
                <a:schemeClr val="accent1"/>
              </a:buClr>
              <a:buSzPct val="100000"/>
            </a:pPr>
            <a:r>
              <a:rPr lang="en-US" dirty="0"/>
              <a:t>                   URL Analysis Tools – Website risk detection</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3899034"/>
          </a:xfrm>
          <a:prstGeom prst="rect">
            <a:avLst/>
          </a:prstGeom>
          <a:noFill/>
          <a:ln/>
        </p:spPr>
        <p:txBody>
          <a:bodyPr wrap="square" lIns="0" tIns="0" rIns="0" bIns="0" rtlCol="0" anchor="t"/>
          <a:lstStyle/>
          <a:p>
            <a:pPr marL="285750" indent="-285750">
              <a:spcAft>
                <a:spcPts val="1000"/>
              </a:spcAft>
              <a:buClr>
                <a:schemeClr val="accent1"/>
              </a:buClr>
              <a:buSzPct val="100000"/>
              <a:buFont typeface="Wingdings" panose="05000000000000000000" pitchFamily="2" charset="2"/>
              <a:buChar char="Ø"/>
            </a:pPr>
            <a:r>
              <a:rPr lang="en-US" dirty="0"/>
              <a:t>Our team intends to develop an AI-powered system to detect fake websites using URL analysis and machine learning.</a:t>
            </a:r>
          </a:p>
          <a:p>
            <a:pPr>
              <a:spcAft>
                <a:spcPts val="1000"/>
              </a:spcAft>
              <a:buClr>
                <a:schemeClr val="accent1"/>
              </a:buClr>
              <a:buSzPct val="100000"/>
            </a:pPr>
            <a:endParaRPr lang="en-US" dirty="0"/>
          </a:p>
          <a:p>
            <a:pPr marL="285750" indent="-285750">
              <a:spcAft>
                <a:spcPts val="1000"/>
              </a:spcAft>
              <a:buClr>
                <a:schemeClr val="accent1"/>
              </a:buClr>
              <a:buSzPct val="100000"/>
              <a:buFont typeface="Wingdings" panose="05000000000000000000" pitchFamily="2" charset="2"/>
              <a:buChar char="Ø"/>
            </a:pPr>
            <a:r>
              <a:rPr lang="en-US" dirty="0"/>
              <a:t>Our team want to Improve website detection accuracy and help users identify suspicious links before accessing them.</a:t>
            </a:r>
          </a:p>
          <a:p>
            <a:pPr>
              <a:spcAft>
                <a:spcPts val="1000"/>
              </a:spcAft>
              <a:buClr>
                <a:schemeClr val="accent1"/>
              </a:buClr>
              <a:buSzPct val="100000"/>
            </a:pPr>
            <a:endParaRPr lang="en-US" dirty="0"/>
          </a:p>
          <a:p>
            <a:pPr marL="285750" indent="-285750">
              <a:spcAft>
                <a:spcPts val="1000"/>
              </a:spcAft>
              <a:buClr>
                <a:schemeClr val="accent1"/>
              </a:buClr>
              <a:buSzPct val="100000"/>
              <a:buFont typeface="Wingdings" panose="05000000000000000000" pitchFamily="2" charset="2"/>
              <a:buChar char="Ø"/>
            </a:pPr>
            <a:r>
              <a:rPr lang="en-US" dirty="0"/>
              <a:t>Our team propose an AI-based solution to identify fake websites, assess URL risks, and help users browse more safely.</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801</Words>
  <Application>Microsoft Office PowerPoint</Application>
  <PresentationFormat>Widescreen</PresentationFormat>
  <Paragraphs>98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Times New Roman</vt:lpstr>
      <vt:lpstr>Wingdings</vt:lpstr>
      <vt:lpstr>Genesis Ideathon</vt:lpstr>
      <vt:lpstr>PowerPoint Presentation</vt:lpstr>
      <vt:lpstr>DOMAIN PROBLEM </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Rakshitha selvaraj</cp:lastModifiedBy>
  <cp:revision>5</cp:revision>
  <dcterms:created xsi:type="dcterms:W3CDTF">2026-10-07T15:27:40Z</dcterms:created>
  <dcterms:modified xsi:type="dcterms:W3CDTF">2026-10-09T18:03:20Z</dcterms:modified>
</cp:coreProperties>
</file>