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Genesis Ideathon: Final Presentation</a:t>
            </a:r>
          </a:p>
          <a:p>
            <a:pPr>
              <a:spcBef>
                <a:spcPts val="1500"/>
              </a:spcBef>
              <a:defRPr sz="2800">
                <a:solidFill>
                  <a:srgbClr val="8C1428"/>
                </a:solidFill>
                <a:latin typeface="Arial"/>
              </a:defRPr>
            </a:pPr>
            <a:r>
              <a:t>Al-Based Fake URL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Team ID: GEN26-A0H-1109  |  Team Name: NEXORA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Domain: Digital Technologies, Al and Cyber Security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Amrita Vishwa Vidyapeetham, Coimbatore Campus  |  Date: 11th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45720"/>
          </a:xfrm>
          <a:prstGeom prst="rect">
            <a:avLst/>
          </a:prstGeom>
          <a:solidFill>
            <a:srgbClr val="8C1428"/>
          </a:solidFill>
          <a:ln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82828"/>
                </a:solidFill>
                <a:latin typeface="Arial"/>
              </a:defRPr>
            </a:pPr>
            <a:r>
              <a:t>1. Problem Statement</a:t>
            </a:r>
          </a:p>
          <a:p>
            <a:pPr>
              <a:spcAft>
                <a:spcPts val="1400"/>
              </a:spcAft>
              <a:defRPr sz="2000" b="1">
                <a:solidFill>
                  <a:srgbClr val="282828"/>
                </a:solidFill>
                <a:latin typeface="Arial"/>
              </a:defRPr>
            </a:pPr>
            <a:r>
              <a:t>2. Problem Understanding</a:t>
            </a:r>
          </a:p>
          <a:p>
            <a:pPr>
              <a:spcAft>
                <a:spcPts val="1400"/>
              </a:spcAft>
              <a:defRPr sz="2000" b="1">
                <a:solidFill>
                  <a:srgbClr val="282828"/>
                </a:solidFill>
                <a:latin typeface="Arial"/>
              </a:defRPr>
            </a:pPr>
            <a:r>
              <a:t>3. Existing Gaps &amp; Challenges</a:t>
            </a:r>
          </a:p>
          <a:p>
            <a:pPr>
              <a:spcAft>
                <a:spcPts val="1400"/>
              </a:spcAft>
              <a:defRPr sz="2000" b="1">
                <a:solidFill>
                  <a:srgbClr val="282828"/>
                </a:solidFill>
                <a:latin typeface="Arial"/>
              </a:defRPr>
            </a:pPr>
            <a:r>
              <a:t>4. Our Proposed Solution</a:t>
            </a:r>
          </a:p>
          <a:p>
            <a:pPr>
              <a:spcAft>
                <a:spcPts val="1400"/>
              </a:spcAft>
              <a:defRPr sz="2000" b="1">
                <a:solidFill>
                  <a:srgbClr val="282828"/>
                </a:solidFill>
                <a:latin typeface="Arial"/>
              </a:defRPr>
            </a:pPr>
            <a:r>
              <a:t>5. Technical Approach</a:t>
            </a:r>
          </a:p>
          <a:p>
            <a:pPr>
              <a:spcAft>
                <a:spcPts val="1400"/>
              </a:spcAft>
              <a:defRPr sz="2000" b="1">
                <a:solidFill>
                  <a:srgbClr val="282828"/>
                </a:solidFill>
                <a:latin typeface="Arial"/>
              </a:defRPr>
            </a:pPr>
            <a:r>
              <a:t>6. Innovation &amp; Uniqueness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4572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82828"/>
                </a:solidFill>
                <a:latin typeface="Arial"/>
              </a:defRPr>
            </a:pPr>
            <a:r>
              <a:t>7. Feasibility &amp; Scalability</a:t>
            </a:r>
          </a:p>
          <a:p>
            <a:pPr>
              <a:spcAft>
                <a:spcPts val="1400"/>
              </a:spcAft>
              <a:defRPr sz="2000" b="1">
                <a:solidFill>
                  <a:srgbClr val="282828"/>
                </a:solidFill>
                <a:latin typeface="Arial"/>
              </a:defRPr>
            </a:pPr>
            <a:r>
              <a:t>8. Cost for Product</a:t>
            </a:r>
          </a:p>
          <a:p>
            <a:pPr>
              <a:spcAft>
                <a:spcPts val="1400"/>
              </a:spcAft>
              <a:defRPr sz="2000" b="1">
                <a:solidFill>
                  <a:srgbClr val="282828"/>
                </a:solidFill>
                <a:latin typeface="Arial"/>
              </a:defRPr>
            </a:pPr>
            <a:r>
              <a:t>9. Use Cases</a:t>
            </a:r>
          </a:p>
          <a:p>
            <a:pPr>
              <a:spcAft>
                <a:spcPts val="1400"/>
              </a:spcAft>
              <a:defRPr sz="2000" b="1">
                <a:solidFill>
                  <a:srgbClr val="282828"/>
                </a:solidFill>
                <a:latin typeface="Arial"/>
              </a:defRPr>
            </a:pPr>
            <a:r>
              <a:t>10. Impacts and Benefits</a:t>
            </a:r>
          </a:p>
          <a:p>
            <a:pPr>
              <a:spcAft>
                <a:spcPts val="1400"/>
              </a:spcAft>
              <a:defRPr sz="2000" b="1">
                <a:solidFill>
                  <a:srgbClr val="282828"/>
                </a:solidFill>
                <a:latin typeface="Arial"/>
              </a:defRPr>
            </a:pPr>
            <a:r>
              <a:t>11. Sustainable Development Goals</a:t>
            </a:r>
          </a:p>
          <a:p>
            <a:pPr>
              <a:spcAft>
                <a:spcPts val="1400"/>
              </a:spcAft>
              <a:defRPr sz="2000" b="1">
                <a:solidFill>
                  <a:srgbClr val="282828"/>
                </a:solidFill>
                <a:latin typeface="Arial"/>
              </a:defRPr>
            </a:pPr>
            <a:r>
              <a:t>12. Individual Member Contribution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45720"/>
          </a:xfrm>
          <a:prstGeom prst="rect">
            <a:avLst/>
          </a:prstGeom>
          <a:solidFill>
            <a:srgbClr val="8C1428"/>
          </a:solidFill>
          <a:ln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5120640" cy="3840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2200" b="1">
                <a:solidFill>
                  <a:srgbClr val="8C1428"/>
                </a:solidFill>
              </a:defRPr>
            </a:pPr>
            <a:r>
              <a:t>The Core Issue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Fake websites are increasingly used to steal passwords, personal information, and banking details by impersonating trusted websites. Traditional blacklist-based detection systems fail to identify newly created phishing URLs that have not yet been reported.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5255" y="2011680"/>
            <a:ext cx="5120640" cy="3840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2200" b="1">
                <a:solidFill>
                  <a:srgbClr val="FFFFFF"/>
                </a:solidFill>
              </a:defRPr>
            </a:pPr>
            <a:r>
              <a:t>Our Al-Based Approach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Develop a predictive detection framework using the Random Forest machine-learning algorithm. The system intelligently learns anomalous patterns from historical URL records to accurately identify fresh phishing websites before they end up on any global blacklists.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Problem Understanding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45720"/>
          </a:xfrm>
          <a:prstGeom prst="rect">
            <a:avLst/>
          </a:prstGeom>
          <a:solidFill>
            <a:srgbClr val="8C1428"/>
          </a:solidFill>
          <a:ln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C2340"/>
                </a:solidFill>
              </a:defRPr>
            </a:pPr>
            <a:r>
              <a:t>Target Users &amp; Stakeholders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Students and everyday </a:t>
            </a:r>
            <a:r>
              <a:rPr b="0">
                <a:latin typeface="Arial"/>
              </a:rPr>
              <a:t>internet users needing baseline browser safety.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Online shoppers and </a:t>
            </a:r>
            <a:r>
              <a:rPr b="0">
                <a:latin typeface="Arial"/>
              </a:rPr>
              <a:t>digital payment users conducting frequent transactions.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Banks, e-commerce companies, </a:t>
            </a:r>
            <a:r>
              <a:rPr b="0">
                <a:latin typeface="Arial"/>
              </a:rPr>
              <a:t>and dedicated enterprise cybersecurity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8C1428"/>
                </a:solidFill>
              </a:defRPr>
            </a:pPr>
            <a:r>
              <a:t>Root Causes &amp; Our Focus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Sophisticated Deception: </a:t>
            </a:r>
            <a:r>
              <a:rPr b="0">
                <a:latin typeface="Arial"/>
              </a:rPr>
              <a:t>Attackers easily imitate trusted websites and brands.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Rapid Proliferation: </a:t>
            </a:r>
            <a:r>
              <a:rPr b="0">
                <a:latin typeface="Arial"/>
              </a:rPr>
              <a:t>New phishing URLs appear faster than they are reported.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Visual Uniformity: </a:t>
            </a:r>
            <a:r>
              <a:rPr b="0">
                <a:latin typeface="Arial"/>
              </a:rPr>
              <a:t>Fake URLs look almost identical to genuine domains.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Strategic Focus: </a:t>
            </a:r>
            <a:r>
              <a:rPr b="0">
                <a:latin typeface="Arial"/>
              </a:rPr>
              <a:t>Detect hidden phishing patterns in URLs directly instead of looking up reactive blacklists.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Existing Gaps &amp;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45720"/>
          </a:xfrm>
          <a:prstGeom prst="rect">
            <a:avLst/>
          </a:prstGeom>
          <a:solidFill>
            <a:srgbClr val="8C1428"/>
          </a:solidFill>
          <a:ln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3383280" cy="3474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0C2340"/>
                </a:solidFill>
              </a:defRPr>
            </a:pPr>
            <a:r>
              <a:t>Blacklist Blind Spot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New phishing URLs frequently escape standard reactive security systems entirely because they have not yet been reported or flagged globally.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2286000"/>
            <a:ext cx="3383280" cy="3474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0C2340"/>
                </a:solidFill>
              </a:defRPr>
            </a:pPr>
            <a:r>
              <a:t>Look-Alike Deception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Advanced fraudulent URLs are engineered to visually imitate genuine domains and trusted brands flawlessly, confusing end users.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0" y="2286000"/>
            <a:ext cx="3383280" cy="3474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0C2340"/>
                </a:solidFill>
              </a:defRPr>
            </a:pPr>
            <a:r>
              <a:t>The Core Challenge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Proactively detecting emerging, short-lived threats while delicately balancing true phishing signals and minimizing disruptive false warning triggers.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Our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45720"/>
          </a:xfrm>
          <a:prstGeom prst="rect">
            <a:avLst/>
          </a:prstGeom>
          <a:solidFill>
            <a:srgbClr val="8C1428"/>
          </a:solidFill>
          <a:ln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C2340"/>
                </a:solidFill>
              </a:defRPr>
            </a:pPr>
            <a:r>
              <a:t>Al-Powered URL Risk Detection System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Data Groundwork: </a:t>
            </a:r>
            <a:r>
              <a:rPr b="0">
                <a:latin typeface="Arial"/>
              </a:rPr>
              <a:t>Collect labeled legitimate and phishing URL records comprehensively.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Model Training: </a:t>
            </a:r>
            <a:r>
              <a:rPr b="0">
                <a:latin typeface="Arial"/>
              </a:rPr>
              <a:t>Train a highly performant Random Forest classification model.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Live Evaluation: </a:t>
            </a:r>
            <a:r>
              <a:rPr b="0">
                <a:latin typeface="Arial"/>
              </a:rPr>
              <a:t>Analyze newly submitted URLs using the strict structural patterns learned.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Rich Explanation: </a:t>
            </a:r>
            <a:r>
              <a:rPr b="0">
                <a:latin typeface="Arial"/>
              </a:rPr>
              <a:t>Generate risk classification equipped with clear, contextual warning reasons.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Continuous Metrics: </a:t>
            </a:r>
            <a:r>
              <a:rPr b="0">
                <a:latin typeface="Arial"/>
              </a:rPr>
              <a:t>Benchmark using precision, recall, false-positive, and false-negative rates.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828800"/>
            <a:ext cx="3474720" cy="41148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2000"/>
              </a:spcAft>
              <a:defRPr sz="1800" b="1">
                <a:solidFill>
                  <a:srgbClr val="FFFFFF"/>
                </a:solidFill>
              </a:defRPr>
            </a:pPr>
            <a:r>
              <a:t>Expected Output Tiers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🟢 Likely Safe</a:t>
            </a:r>
          </a:p>
          <a:p>
            <a:pPr>
              <a:spcAft>
                <a:spcPts val="1000"/>
              </a:spcAft>
              <a:defRPr sz="1200">
                <a:solidFill>
                  <a:srgbClr val="F5F7FA"/>
                </a:solidFill>
              </a:defRPr>
            </a:pPr>
            <a:r>
              <a:t>No anomaly trends found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🟡 Suspicious</a:t>
            </a:r>
          </a:p>
          <a:p>
            <a:pPr>
              <a:spcAft>
                <a:spcPts val="1000"/>
              </a:spcAft>
              <a:defRPr sz="1200">
                <a:solidFill>
                  <a:srgbClr val="F5F7FA"/>
                </a:solidFill>
              </a:defRPr>
            </a:pPr>
            <a:r>
              <a:t>Structural patterns signal caution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🔴 High Risk</a:t>
            </a:r>
          </a:p>
          <a:p>
            <a:pPr>
              <a:spcAft>
                <a:spcPts val="1000"/>
              </a:spcAft>
              <a:defRPr sz="1200">
                <a:solidFill>
                  <a:srgbClr val="F5F7FA"/>
                </a:solidFill>
              </a:defRPr>
            </a:pPr>
            <a:r>
              <a:t>Strong matches with historical fraud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45720"/>
          </a:xfrm>
          <a:prstGeom prst="rect">
            <a:avLst/>
          </a:prstGeom>
          <a:solidFill>
            <a:srgbClr val="8C1428"/>
          </a:solidFill>
          <a:ln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2560320" cy="2011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C2340"/>
                </a:solidFill>
              </a:defRPr>
            </a:pPr>
            <a:r>
              <a:t>1. Data Collection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PhishTank records &amp; UCI Dataset containing verified URL logs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011680"/>
            <a:ext cx="2560320" cy="2011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C2340"/>
                </a:solidFill>
              </a:defRPr>
            </a:pPr>
            <a:r>
              <a:t>2. Processing &amp; Extraction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Isolating URL length, domain patterns, hash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2011680"/>
            <a:ext cx="2560320" cy="2011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C2340"/>
                </a:solidFill>
              </a:defRPr>
            </a:pPr>
            <a:r>
              <a:t>3. ML Modeling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Training multiple randomized trees via Scikit-Learn Random Forest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2011680"/>
            <a:ext cx="2560320" cy="2011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600"/>
              </a:spcAft>
              <a:defRPr sz="1600" b="1">
                <a:solidFill>
                  <a:srgbClr val="0C2340"/>
                </a:solidFill>
              </a:defRPr>
            </a:pPr>
            <a:r>
              <a:t>4. Risk Prediction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Final classification label delivery coupled with risk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891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C1428"/>
                </a:solidFill>
              </a:defRPr>
            </a:pPr>
            <a:r>
              <a:t>System Tech Stack Architecture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Frontend: HTML/CSS framework for user portal interface</a:t>
            </a:r>
            <a:br/>
            <a:r>
              <a:t>• Backend Pipeline: Robust Python microservices ecosystem</a:t>
            </a:r>
            <a:br/>
            <a:r>
              <a:t>• Database Storage: Labeled relational historical URL dataset matrices</a:t>
            </a:r>
            <a:br/>
            <a:r>
              <a:t>• AI/ML Engine: Scikit-learn framework leveraging Random Forest Classifiers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Innovation &amp; Uniqueness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45720"/>
          </a:xfrm>
          <a:prstGeom prst="rect">
            <a:avLst/>
          </a:prstGeom>
          <a:solidFill>
            <a:srgbClr val="8C1428"/>
          </a:solidFill>
          <a:ln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0C2340"/>
                </a:solidFill>
              </a:defRPr>
            </a:pPr>
            <a:r>
              <a:t>• Error-Based Iterative Improvement: </a:t>
            </a:r>
            <a:r>
              <a:rPr b="0">
                <a:solidFill>
                  <a:srgbClr val="282828"/>
                </a:solidFill>
              </a:rPr>
              <a:t>Aggressively studies false positives and false negatives under validation to systematically tune thresholds, lowering false warnings while preventing missed threats.</a:t>
            </a:r>
          </a:p>
          <a:p>
            <a:pPr>
              <a:spcAft>
                <a:spcPts val="1200"/>
              </a:spcAft>
              <a:defRPr b="1" sz="1600">
                <a:solidFill>
                  <a:srgbClr val="0C2340"/>
                </a:solidFill>
              </a:defRPr>
            </a:pPr>
            <a:r>
              <a:t>• Flexible Architecture Framework: </a:t>
            </a:r>
            <a:r>
              <a:rPr b="0">
                <a:solidFill>
                  <a:srgbClr val="282828"/>
                </a:solidFill>
              </a:rPr>
              <a:t>Engineered to scale gracefully with future enhancements, accommodating external domain reputation checks, live feeds, and ensemble deep learning models seamlessly.</a:t>
            </a:r>
          </a:p>
          <a:p>
            <a:pPr>
              <a:spcAft>
                <a:spcPts val="1200"/>
              </a:spcAft>
              <a:defRPr b="1" sz="1600">
                <a:solidFill>
                  <a:srgbClr val="0C2340"/>
                </a:solidFill>
              </a:defRPr>
            </a:pPr>
            <a:r>
              <a:t>• Targeted Zero-Day Protection: </a:t>
            </a:r>
            <a:r>
              <a:rPr b="0">
                <a:solidFill>
                  <a:srgbClr val="282828"/>
                </a:solidFill>
              </a:rPr>
              <a:t>Explicitly engineered to detect newly minted, active phishing URLs that have completely avoided registration on traditional security blacklists.</a:t>
            </a:r>
          </a:p>
          <a:p>
            <a:pPr>
              <a:spcAft>
                <a:spcPts val="1200"/>
              </a:spcAft>
              <a:defRPr b="1" sz="1600">
                <a:solidFill>
                  <a:srgbClr val="0C2340"/>
                </a:solidFill>
              </a:defRPr>
            </a:pPr>
            <a:r>
              <a:t>• Transparent &amp; Explainable ML: </a:t>
            </a:r>
            <a:r>
              <a:rPr b="0">
                <a:solidFill>
                  <a:srgbClr val="282828"/>
                </a:solidFill>
              </a:rPr>
              <a:t>Moves away from black-box AI by highlighting specific URL feature anomalies that heavily influenced the model's final warning risk assessment.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Feasibility &amp; Scalability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45720"/>
          </a:xfrm>
          <a:prstGeom prst="rect">
            <a:avLst/>
          </a:prstGeom>
          <a:solidFill>
            <a:srgbClr val="8C1428"/>
          </a:solidFill>
          <a:ln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C2340"/>
                </a:solidFill>
              </a:defRPr>
            </a:pPr>
            <a:r>
              <a:t>Feasibility &amp; Scalability Roadmap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Feasibility:</a:t>
            </a:r>
            <a:br/>
            <a:r>
              <a:t>Built completely on open-source Python libraries. Uses standard freely available datasets. Highly practical to execute step-by-step as a structured university project.</a:t>
            </a:r>
            <a:br/>
            <a:br/>
            <a:r>
              <a:t>Scalability:</a:t>
            </a:r>
            <a:br/>
            <a:r>
              <a:t>Easily optimized to integrate into standard lightweight browser extensions. Capable of evaluating user submissions on the fly. Models can be programmatically retrained.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4389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8C1428"/>
                </a:solidFill>
              </a:defRPr>
            </a:pPr>
            <a:r>
              <a:t>Risk Management &amp; Constraints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Data Imbalance: </a:t>
            </a:r>
            <a:r>
              <a:rPr b="0">
                <a:latin typeface="Arial"/>
              </a:rPr>
              <a:t>Mitigated using strategic data sampling and robust evaluation metrics.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False Alarms: </a:t>
            </a:r>
            <a:r>
              <a:rPr b="0">
                <a:latin typeface="Arial"/>
              </a:rPr>
              <a:t>Controlled by precision-tuning decision thresholds via validation splits.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Evolving Attacks: </a:t>
            </a:r>
            <a:r>
              <a:rPr b="0">
                <a:latin typeface="Arial"/>
              </a:rPr>
              <a:t>Resolved by periodic data pipeline updates and constant monitoring.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Data Leakage: </a:t>
            </a:r>
            <a:r>
              <a:rPr b="0">
                <a:latin typeface="Arial"/>
              </a:rPr>
              <a:t>Prevented by strict duplicate removal before separating training/test data.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rPr b="1">
                <a:latin typeface="Arial"/>
              </a:rPr>
              <a:t>Limitation: Predictions </a:t>
            </a:r>
            <a:r>
              <a:rPr b="0">
                <a:latin typeface="Arial"/>
              </a:rPr>
              <a:t>calculate probability; they cannot offer a 100% absolute guarantee.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Cost Breakdown (Optional)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45720"/>
          </a:xfrm>
          <a:prstGeom prst="rect">
            <a:avLst/>
          </a:prstGeom>
          <a:solidFill>
            <a:srgbClr val="8C1428"/>
          </a:solidFill>
          <a:ln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C2340"/>
                </a:solidFill>
              </a:defRPr>
            </a:pPr>
            <a:r>
              <a:t>• Development &amp; Core Framework: </a:t>
            </a:r>
            <a:r>
              <a:rPr b="0">
                <a:solidFill>
                  <a:srgbClr val="282828"/>
                </a:solidFill>
              </a:rPr>
              <a:t>Python &amp; foundational ML libraries are open-source and entirely free to use.</a:t>
            </a:r>
          </a:p>
          <a:p>
            <a:pPr>
              <a:spcAft>
                <a:spcPts val="800"/>
              </a:spcAft>
              <a:defRPr b="1" sz="1500">
                <a:solidFill>
                  <a:srgbClr val="0C2340"/>
                </a:solidFill>
              </a:defRPr>
            </a:pPr>
            <a:r>
              <a:t>• Dataset Procurement: </a:t>
            </a:r>
            <a:r>
              <a:rPr b="0">
                <a:solidFill>
                  <a:srgbClr val="282828"/>
                </a:solidFill>
              </a:rPr>
              <a:t>Public labeled repositories provide clean starting data without upfront licensing terms.</a:t>
            </a:r>
          </a:p>
          <a:p>
            <a:pPr>
              <a:spcAft>
                <a:spcPts val="800"/>
              </a:spcAft>
              <a:defRPr b="1" sz="1500">
                <a:solidFill>
                  <a:srgbClr val="0C2340"/>
                </a:solidFill>
              </a:defRPr>
            </a:pPr>
            <a:r>
              <a:t>• Resource Allotment: </a:t>
            </a:r>
            <a:r>
              <a:rPr b="0">
                <a:solidFill>
                  <a:srgbClr val="282828"/>
                </a:solidFill>
              </a:rPr>
              <a:t>Model engineering, feature design, and evaluation are managed as direct team synergy efforts.</a:t>
            </a:r>
          </a:p>
          <a:p>
            <a:pPr>
              <a:spcAft>
                <a:spcPts val="800"/>
              </a:spcAft>
              <a:defRPr b="1" sz="1500">
                <a:solidFill>
                  <a:srgbClr val="0C2340"/>
                </a:solidFill>
              </a:defRPr>
            </a:pPr>
            <a:r>
              <a:t>• Interface &amp; Hosting: </a:t>
            </a:r>
            <a:r>
              <a:rPr b="0">
                <a:solidFill>
                  <a:srgbClr val="282828"/>
                </a:solidFill>
              </a:rPr>
              <a:t>Initial validation runs locally. Future scalable cloud deployment depends on hosting tiers.</a:t>
            </a:r>
          </a:p>
          <a:p>
            <a:pPr>
              <a:spcAft>
                <a:spcPts val="800"/>
              </a:spcAft>
              <a:defRPr b="1" sz="1500">
                <a:solidFill>
                  <a:srgbClr val="0C2340"/>
                </a:solidFill>
              </a:defRPr>
            </a:pPr>
            <a:r>
              <a:t>• Maintenance Commitment: </a:t>
            </a:r>
            <a:r>
              <a:rPr b="0">
                <a:solidFill>
                  <a:srgbClr val="282828"/>
                </a:solidFill>
              </a:rPr>
              <a:t>Requires consistent time for clearing data, feature tuning, and testing iterations.</a:t>
            </a:r>
          </a:p>
          <a:p>
            <a:pPr>
              <a:spcAft>
                <a:spcPts val="800"/>
              </a:spcAft>
              <a:defRPr b="1" sz="1500">
                <a:solidFill>
                  <a:srgbClr val="0C2340"/>
                </a:solidFill>
              </a:defRPr>
            </a:pPr>
            <a:r>
              <a:t>• Financial Summary: </a:t>
            </a:r>
            <a:r>
              <a:rPr b="0">
                <a:solidFill>
                  <a:srgbClr val="282828"/>
                </a:solidFill>
              </a:rPr>
              <a:t>A comprehensive proof of concept is viable at zero initial cost using open tools.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Application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45720"/>
          </a:xfrm>
          <a:prstGeom prst="rect">
            <a:avLst/>
          </a:prstGeom>
          <a:solidFill>
            <a:srgbClr val="8C1428"/>
          </a:solidFill>
          <a:ln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3383280" cy="3840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600"/>
              </a:spcAft>
              <a:defRPr sz="1400" b="1">
                <a:solidFill>
                  <a:srgbClr val="8C1428"/>
                </a:solidFill>
              </a:defRPr>
            </a:pPr>
            <a:r>
              <a:t>CASE 1</a:t>
            </a:r>
          </a:p>
          <a:p>
            <a:pPr>
              <a:spcAft>
                <a:spcPts val="1200"/>
              </a:spcAft>
              <a:defRPr sz="1800" b="1">
                <a:solidFill>
                  <a:srgbClr val="0C2340"/>
                </a:solidFill>
              </a:defRPr>
            </a:pPr>
            <a:r>
              <a:t>Student Safety Hub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A student encounters an unfamiliar external research portal link and runs an instant check before typing credentials or sensitive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2011680"/>
            <a:ext cx="3383280" cy="3840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CASE 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E-Commerce Protection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A regular online shopper screens an aggressive deal link or checkout URL before entering personal payment details.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0" y="2011680"/>
            <a:ext cx="3383280" cy="3840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600"/>
              </a:spcAft>
              <a:defRPr sz="1400" b="1">
                <a:solidFill>
                  <a:srgbClr val="8C1428"/>
                </a:solidFill>
              </a:defRPr>
            </a:pPr>
            <a:r>
              <a:t>CASE 3</a:t>
            </a:r>
          </a:p>
          <a:p>
            <a:pPr>
              <a:spcAft>
                <a:spcPts val="1200"/>
              </a:spcAft>
              <a:defRPr sz="1800" b="1">
                <a:solidFill>
                  <a:srgbClr val="0C2340"/>
                </a:solidFill>
              </a:defRPr>
            </a:pPr>
            <a:r>
              <a:t>Cybersecurity Triaging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A corporate response team deploys the detection engine to triage missing URLs and flag zero-day vectors early.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Impacts &amp; Core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45720"/>
          </a:xfrm>
          <a:prstGeom prst="rect">
            <a:avLst/>
          </a:prstGeom>
          <a:solidFill>
            <a:srgbClr val="8C1428"/>
          </a:solidFill>
          <a:ln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1800">
                <a:solidFill>
                  <a:srgbClr val="0C2340"/>
                </a:solidFill>
              </a:defRPr>
            </a:pPr>
            <a:r>
              <a:t>✔ Elevated Online Safety Margin</a:t>
            </a:r>
            <a:br/>
            <a:r>
              <a:rPr b="0" sz="1400">
                <a:solidFill>
                  <a:srgbClr val="282828"/>
                </a:solidFill>
              </a:rPr>
              <a:t>Empowers daily web users to dynamically discover and steer clear of sophisticated web traps prior to critical credential exposure.</a:t>
            </a:r>
          </a:p>
          <a:p>
            <a:pPr>
              <a:spcAft>
                <a:spcPts val="1600"/>
              </a:spcAft>
              <a:defRPr b="1" sz="1800">
                <a:solidFill>
                  <a:srgbClr val="0C2340"/>
                </a:solidFill>
              </a:defRPr>
            </a:pPr>
            <a:r>
              <a:t>✔ Highly Measurable Performance</a:t>
            </a:r>
            <a:br/>
            <a:r>
              <a:rPr b="0" sz="1400">
                <a:solidFill>
                  <a:srgbClr val="282828"/>
                </a:solidFill>
              </a:rPr>
              <a:t>Relies entirely on empirical criteria like confusion matrices, high precision, recall curves, and transparent error logs to guarantee steady tracking metrics.</a:t>
            </a:r>
          </a:p>
          <a:p>
            <a:pPr>
              <a:spcAft>
                <a:spcPts val="1600"/>
              </a:spcAft>
              <a:defRPr b="1" sz="1800">
                <a:solidFill>
                  <a:srgbClr val="0C2340"/>
                </a:solidFill>
              </a:defRPr>
            </a:pPr>
            <a:r>
              <a:t>✔ Tangible Output Deliverables</a:t>
            </a:r>
            <a:br/>
            <a:r>
              <a:rPr b="0" sz="1400">
                <a:solidFill>
                  <a:srgbClr val="282828"/>
                </a:solidFill>
              </a:rPr>
              <a:t>Yields an optimized production-ready machine learning framework and an evaluation report that clearly outlines predictive capabilities against unseen domains.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Sustainable Development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45720"/>
          </a:xfrm>
          <a:prstGeom prst="rect">
            <a:avLst/>
          </a:prstGeom>
          <a:solidFill>
            <a:srgbClr val="8C1428"/>
          </a:solidFill>
          <a:ln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5120640" cy="3931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400"/>
              </a:spcAft>
              <a:defRPr sz="1600" b="1">
                <a:solidFill>
                  <a:srgbClr val="8C1428"/>
                </a:solidFill>
              </a:defRPr>
            </a:pPr>
            <a:r>
              <a:t>SDG 9 — Target 9.1</a:t>
            </a:r>
          </a:p>
          <a:p>
            <a:pPr>
              <a:spcAft>
                <a:spcPts val="1200"/>
              </a:spcAft>
              <a:defRPr sz="2000" b="1">
                <a:solidFill>
                  <a:srgbClr val="0C2340"/>
                </a:solidFill>
              </a:defRPr>
            </a:pPr>
            <a:r>
              <a:t>Industry, Innovation &amp; Infrastructure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Supports the ongoing construction of resilient, secure, and fully dependable digital communication channels via intelligent proactive phishing layer defense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2011680"/>
            <a:ext cx="5120640" cy="3931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400"/>
              </a:spcAft>
              <a:defRPr sz="1600" b="1">
                <a:solidFill>
                  <a:srgbClr val="8C1428"/>
                </a:solidFill>
              </a:defRPr>
            </a:pPr>
            <a:r>
              <a:t>SDG 16 — Target 16.4</a:t>
            </a:r>
          </a:p>
          <a:p>
            <a:pPr>
              <a:spcAft>
                <a:spcPts val="1200"/>
              </a:spcAft>
              <a:defRPr sz="2000" b="1">
                <a:solidFill>
                  <a:srgbClr val="0C2340"/>
                </a:solidFill>
              </a:defRPr>
            </a:pPr>
            <a:r>
              <a:t>Peace, Justice &amp; Strong Institutions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Contributes to the reduction of international illicit financial and cyber-enabled fraud activities by proactively identifying malicious spoofed web anchors.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Team Contributions &amp; Registration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45720"/>
          </a:xfrm>
          <a:prstGeom prst="rect">
            <a:avLst/>
          </a:prstGeom>
          <a:solidFill>
            <a:srgbClr val="8C1428"/>
          </a:solidFill>
          <a:ln>
            <a:solidFill>
              <a:srgbClr val="8C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011680"/>
          <a:ext cx="108200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619695"/>
              </a:tblGrid>
              <a:tr h="762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Responsibility &amp; Execution Domains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Nidarshanaa S, Neha Rajesh, Rakshitha 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In-depth problem research, analysis of legacy detection systems, secure public dataset collection, meticulous data processing, URL structural feature engineering, and core Random Forest classification model training pipeline implementation.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Rakesh Raam J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Comprehensive model assessment, performance metrics parsing, confusion matrix evaluation, precision/recall curve stability tracking, and final model validation analytics.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85800" y="5120640"/>
            <a:ext cx="10820095" cy="914400"/>
          </a:xfrm>
          <a:prstGeom prst="rect">
            <a:avLst/>
          </a:prstGeom>
          <a:solidFill>
            <a:srgbClr val="8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OFFICIAL YUKTI REGISTRATION ID: IR2026-1051067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